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12" autoAdjust="0"/>
    <p:restoredTop sz="63969" autoAdjust="0"/>
  </p:normalViewPr>
  <p:slideViewPr>
    <p:cSldViewPr snapToGrid="0">
      <p:cViewPr varScale="1">
        <p:scale>
          <a:sx n="53" d="100"/>
          <a:sy n="53" d="100"/>
        </p:scale>
        <p:origin x="1104"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3E19CB-3F14-470B-B7DC-4D5DDCE58281}"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CF24A7-6AD2-4D9D-B77A-DF306F58C365}" type="slidenum">
              <a:rPr lang="en-US" smtClean="0"/>
              <a:t>‹#›</a:t>
            </a:fld>
            <a:endParaRPr lang="en-US"/>
          </a:p>
        </p:txBody>
      </p:sp>
    </p:spTree>
    <p:extLst>
      <p:ext uri="{BB962C8B-B14F-4D97-AF65-F5344CB8AC3E}">
        <p14:creationId xmlns:p14="http://schemas.microsoft.com/office/powerpoint/2010/main" val="3594590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I’d like to share some work I’ve been doing on a map of the World in the year 1492.</a:t>
            </a:r>
          </a:p>
        </p:txBody>
      </p:sp>
      <p:sp>
        <p:nvSpPr>
          <p:cNvPr id="4" name="Slide Number Placeholder 3"/>
          <p:cNvSpPr>
            <a:spLocks noGrp="1"/>
          </p:cNvSpPr>
          <p:nvPr>
            <p:ph type="sldNum" sz="quarter" idx="5"/>
          </p:nvPr>
        </p:nvSpPr>
        <p:spPr/>
        <p:txBody>
          <a:bodyPr/>
          <a:lstStyle/>
          <a:p>
            <a:fld id="{36CF24A7-6AD2-4D9D-B77A-DF306F58C365}" type="slidenum">
              <a:rPr lang="en-US" smtClean="0"/>
              <a:t>1</a:t>
            </a:fld>
            <a:endParaRPr lang="en-US"/>
          </a:p>
        </p:txBody>
      </p:sp>
    </p:spTree>
    <p:extLst>
      <p:ext uri="{BB962C8B-B14F-4D97-AF65-F5344CB8AC3E}">
        <p14:creationId xmlns:p14="http://schemas.microsoft.com/office/powerpoint/2010/main" val="37386264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that year? We all know it as the year Columbus first arrived in the Caribbean. So it is the eve of Imperial Europe; within 100 years, Europe will have profound influence on the entire world. So this year represents a world of hundreds of states that have emerged on their own. And it is a profoundly interesting world. I loved learning about it. But my favorite thing about it is that it is really complicated; for 35 years now, I cannot resist trying to represented the most complex geographies.</a:t>
            </a:r>
          </a:p>
        </p:txBody>
      </p:sp>
      <p:sp>
        <p:nvSpPr>
          <p:cNvPr id="4" name="Slide Number Placeholder 3"/>
          <p:cNvSpPr>
            <a:spLocks noGrp="1"/>
          </p:cNvSpPr>
          <p:nvPr>
            <p:ph type="sldNum" sz="quarter" idx="5"/>
          </p:nvPr>
        </p:nvSpPr>
        <p:spPr/>
        <p:txBody>
          <a:bodyPr/>
          <a:lstStyle/>
          <a:p>
            <a:fld id="{36CF24A7-6AD2-4D9D-B77A-DF306F58C365}" type="slidenum">
              <a:rPr lang="en-US" smtClean="0"/>
              <a:t>2</a:t>
            </a:fld>
            <a:endParaRPr lang="en-US"/>
          </a:p>
        </p:txBody>
      </p:sp>
    </p:spTree>
    <p:extLst>
      <p:ext uri="{BB962C8B-B14F-4D97-AF65-F5344CB8AC3E}">
        <p14:creationId xmlns:p14="http://schemas.microsoft.com/office/powerpoint/2010/main" val="1885621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Notably, political geography was downright weird. In our world today, we have a fairly consistent notion of what constitutes a sovereign state. Most people refer to a definition of state established at a conference in Uruguay in the 1930s, which employed a simple checklist that clearly distinguishes what is a sovereign state and what is not. Well…not quite. What we find in 1492 are a lot of places where today’s ideal doesn’t really apply. Here is an example of several complexities: The confederacy of the four </a:t>
            </a:r>
            <a:r>
              <a:rPr lang="en-US" dirty="0" err="1"/>
              <a:t>Oirats</a:t>
            </a:r>
            <a:r>
              <a:rPr lang="en-US" dirty="0"/>
              <a:t> was only sort-of a state by our definition; it was sort-of sovereign and sort-of dependent on Mongolia; there was a lot of frontier where it only sort-of had territorial control; and all of this has very little documentation and may or may not have even been the case in this year. And they are not unusual.</a:t>
            </a:r>
          </a:p>
        </p:txBody>
      </p:sp>
      <p:sp>
        <p:nvSpPr>
          <p:cNvPr id="4" name="Slide Number Placeholder 3"/>
          <p:cNvSpPr>
            <a:spLocks noGrp="1"/>
          </p:cNvSpPr>
          <p:nvPr>
            <p:ph type="sldNum" sz="quarter" idx="5"/>
          </p:nvPr>
        </p:nvSpPr>
        <p:spPr/>
        <p:txBody>
          <a:bodyPr/>
          <a:lstStyle/>
          <a:p>
            <a:fld id="{36CF24A7-6AD2-4D9D-B77A-DF306F58C365}" type="slidenum">
              <a:rPr lang="en-US" smtClean="0"/>
              <a:t>3</a:t>
            </a:fld>
            <a:endParaRPr lang="en-US"/>
          </a:p>
        </p:txBody>
      </p:sp>
    </p:spTree>
    <p:extLst>
      <p:ext uri="{BB962C8B-B14F-4D97-AF65-F5344CB8AC3E}">
        <p14:creationId xmlns:p14="http://schemas.microsoft.com/office/powerpoint/2010/main" val="2817546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deal with all this complexity? Almost 25 years ago, I published a paper on a GIS data model that could simultaneously store various kinds of vagueness and uncertainty with great precision; it was beautiful, but absolutely useless. I couldn’t even make myself use it because it was too complicated. For this purpose as a basic world map, it just isn’t that important that I clearly differentiate these various types of complexity. It is probably enough to combine them all into basic visual cues that just give a hint of things being “</a:t>
            </a:r>
            <a:r>
              <a:rPr lang="en-US" dirty="0" err="1"/>
              <a:t>ish</a:t>
            </a:r>
            <a:r>
              <a:rPr lang="en-US" dirty="0"/>
              <a:t>,” like out-of-focus borders that have been used for decades and documented by Alan </a:t>
            </a:r>
            <a:r>
              <a:rPr lang="en-US" dirty="0" err="1"/>
              <a:t>MacEachren</a:t>
            </a:r>
            <a:r>
              <a:rPr lang="en-US" dirty="0"/>
              <a:t> 35 years ago (in our own Cartographic Perspectives even!). I needed data that was simple enough that a normal historian could build based on existing (usually vague) sources. And I needed a technique that could be generated automatically, not manually creating gradient fills in each polygon in Illustrator or something.</a:t>
            </a:r>
          </a:p>
        </p:txBody>
      </p:sp>
      <p:sp>
        <p:nvSpPr>
          <p:cNvPr id="4" name="Slide Number Placeholder 3"/>
          <p:cNvSpPr>
            <a:spLocks noGrp="1"/>
          </p:cNvSpPr>
          <p:nvPr>
            <p:ph type="sldNum" sz="quarter" idx="5"/>
          </p:nvPr>
        </p:nvSpPr>
        <p:spPr/>
        <p:txBody>
          <a:bodyPr/>
          <a:lstStyle/>
          <a:p>
            <a:fld id="{36CF24A7-6AD2-4D9D-B77A-DF306F58C365}" type="slidenum">
              <a:rPr lang="en-US" smtClean="0"/>
              <a:t>4</a:t>
            </a:fld>
            <a:endParaRPr lang="en-US"/>
          </a:p>
        </p:txBody>
      </p:sp>
    </p:spTree>
    <p:extLst>
      <p:ext uri="{BB962C8B-B14F-4D97-AF65-F5344CB8AC3E}">
        <p14:creationId xmlns:p14="http://schemas.microsoft.com/office/powerpoint/2010/main" val="3214691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first, the GIS data. As we digitized the polygons for each state, they were placed in one of three layers: one for states that had the highest degree of sovereignty, one for semi-sovereign states that were dependent on another state (say, the Kingdom of Hungary being under the Crown of Bohemia), and confederations and other “supra-states” that collected multiple states with a limited shared sovereignty, such as the Holy Roman Empire. These could be flagged if we were uncertain whether they even existed in 1492 (a very common situation in many regions without written languages yet). The boundaries were digitized separately, so different portions of a boundary could have different degrees of uncertainty. Each was coded with an ordinal scale value representing the width of a frontier zone to an order of magnitude. This is important because it was rare that we could quantify exactly how wide a frontier was, but it was usually fairly easy to place it in a wide range.</a:t>
            </a:r>
          </a:p>
        </p:txBody>
      </p:sp>
      <p:sp>
        <p:nvSpPr>
          <p:cNvPr id="4" name="Slide Number Placeholder 3"/>
          <p:cNvSpPr>
            <a:spLocks noGrp="1"/>
          </p:cNvSpPr>
          <p:nvPr>
            <p:ph type="sldNum" sz="quarter" idx="5"/>
          </p:nvPr>
        </p:nvSpPr>
        <p:spPr/>
        <p:txBody>
          <a:bodyPr/>
          <a:lstStyle/>
          <a:p>
            <a:fld id="{36CF24A7-6AD2-4D9D-B77A-DF306F58C365}" type="slidenum">
              <a:rPr lang="en-US" smtClean="0"/>
              <a:t>5</a:t>
            </a:fld>
            <a:endParaRPr lang="en-US"/>
          </a:p>
        </p:txBody>
      </p:sp>
    </p:spTree>
    <p:extLst>
      <p:ext uri="{BB962C8B-B14F-4D97-AF65-F5344CB8AC3E}">
        <p14:creationId xmlns:p14="http://schemas.microsoft.com/office/powerpoint/2010/main" val="2537462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describe how the data was turned into the map in reverse, since that is how I developed it. I wanted a map of 6 colors of states (+ gray for regions of microstates) with variably fuzzy edges that blended into each other. So I decided to process all of the countries in each color as a group, one color at a time creating 7 raster grids of fields of intensity for each color. So first I created buffers of each boundary line, at its minimum and maximum width. Then for all of the polygons of a particular color, we used overlays to create four alternative polygons, each coded with a membership value for its boundary—perhaps we could call these “iso-</a:t>
            </a:r>
            <a:r>
              <a:rPr lang="en-US" dirty="0" err="1"/>
              <a:t>sovs</a:t>
            </a:r>
            <a:r>
              <a:rPr lang="en-US" dirty="0"/>
              <a:t>?” I have to think about that some more. The original polygon minus the max width is a full membership of 1, minus the min width is a little less, at the original polygon boundary is a little less than 50% (kind of a “no-man’s land”), and plus the max width is the absolute limit of minimally possible territorial control. The lines for dependent states were coded with a proportionally lower value. These lines were then triangulated into a membership surface of sorts as a TIN, which was then interpolated into a global raster grid for that color. Now, how precise are these exact membership values in the fuzzy set; sorry, that’s kind of a meaningless question; it’s all fuzzy and uncertain, and as long as it looks like a smooth blend, it’s good enough for this application.</a:t>
            </a:r>
          </a:p>
        </p:txBody>
      </p:sp>
      <p:sp>
        <p:nvSpPr>
          <p:cNvPr id="4" name="Slide Number Placeholder 3"/>
          <p:cNvSpPr>
            <a:spLocks noGrp="1"/>
          </p:cNvSpPr>
          <p:nvPr>
            <p:ph type="sldNum" sz="quarter" idx="5"/>
          </p:nvPr>
        </p:nvSpPr>
        <p:spPr/>
        <p:txBody>
          <a:bodyPr/>
          <a:lstStyle/>
          <a:p>
            <a:fld id="{36CF24A7-6AD2-4D9D-B77A-DF306F58C365}" type="slidenum">
              <a:rPr lang="en-US" smtClean="0"/>
              <a:t>6</a:t>
            </a:fld>
            <a:endParaRPr lang="en-US"/>
          </a:p>
        </p:txBody>
      </p:sp>
    </p:spTree>
    <p:extLst>
      <p:ext uri="{BB962C8B-B14F-4D97-AF65-F5344CB8AC3E}">
        <p14:creationId xmlns:p14="http://schemas.microsoft.com/office/powerpoint/2010/main" val="2806242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each of the seven color rasters were symbolized with a color ramp of constant color but variable opacity, so they naturally blended in the frontiers. You can see here states with very fuzzy, wide frontiers, and much more crisp, more clearly defined boundaries. Then I could add other features like cities, tribal identities and non-state societies, and trade and exploration routes, explanatory notes, and the static map is ready to go. I’ve started on an interactive version, but changing scales will lead to some new issues with this method.</a:t>
            </a:r>
          </a:p>
        </p:txBody>
      </p:sp>
      <p:sp>
        <p:nvSpPr>
          <p:cNvPr id="4" name="Slide Number Placeholder 3"/>
          <p:cNvSpPr>
            <a:spLocks noGrp="1"/>
          </p:cNvSpPr>
          <p:nvPr>
            <p:ph type="sldNum" sz="quarter" idx="5"/>
          </p:nvPr>
        </p:nvSpPr>
        <p:spPr/>
        <p:txBody>
          <a:bodyPr/>
          <a:lstStyle/>
          <a:p>
            <a:fld id="{36CF24A7-6AD2-4D9D-B77A-DF306F58C365}" type="slidenum">
              <a:rPr lang="en-US" smtClean="0"/>
              <a:t>7</a:t>
            </a:fld>
            <a:endParaRPr lang="en-US"/>
          </a:p>
        </p:txBody>
      </p:sp>
    </p:spTree>
    <p:extLst>
      <p:ext uri="{BB962C8B-B14F-4D97-AF65-F5344CB8AC3E}">
        <p14:creationId xmlns:p14="http://schemas.microsoft.com/office/powerpoint/2010/main" val="4202948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that’s about it. Feel free to check it out in the map gallery, or go look at it here on </a:t>
            </a:r>
            <a:r>
              <a:rPr lang="en-US" dirty="0" err="1"/>
              <a:t>github</a:t>
            </a:r>
            <a:r>
              <a:rPr lang="en-US" dirty="0"/>
              <a:t>, where I also have the GIS data and the python code. I’d love your feedback on the content and the design.</a:t>
            </a:r>
          </a:p>
        </p:txBody>
      </p:sp>
      <p:sp>
        <p:nvSpPr>
          <p:cNvPr id="4" name="Slide Number Placeholder 3"/>
          <p:cNvSpPr>
            <a:spLocks noGrp="1"/>
          </p:cNvSpPr>
          <p:nvPr>
            <p:ph type="sldNum" sz="quarter" idx="5"/>
          </p:nvPr>
        </p:nvSpPr>
        <p:spPr/>
        <p:txBody>
          <a:bodyPr/>
          <a:lstStyle/>
          <a:p>
            <a:fld id="{36CF24A7-6AD2-4D9D-B77A-DF306F58C365}" type="slidenum">
              <a:rPr lang="en-US" smtClean="0"/>
              <a:t>8</a:t>
            </a:fld>
            <a:endParaRPr lang="en-US"/>
          </a:p>
        </p:txBody>
      </p:sp>
    </p:spTree>
    <p:extLst>
      <p:ext uri="{BB962C8B-B14F-4D97-AF65-F5344CB8AC3E}">
        <p14:creationId xmlns:p14="http://schemas.microsoft.com/office/powerpoint/2010/main" val="13081855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ECE2C569-A778-4CAE-9F9A-23544BB94C66}" type="datetimeFigureOut">
              <a:rPr lang="en-US" smtClean="0"/>
              <a:t>10/21/2026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18AEBC75-D87A-4B21-B386-6C6D999C8F46}" type="slidenum">
              <a:rPr lang="en-US" smtClean="0"/>
              <a:t>‹#›</a:t>
            </a:fld>
            <a:endParaRPr lang="en-US"/>
          </a:p>
        </p:txBody>
      </p:sp>
    </p:spTree>
    <p:extLst>
      <p:ext uri="{BB962C8B-B14F-4D97-AF65-F5344CB8AC3E}">
        <p14:creationId xmlns:p14="http://schemas.microsoft.com/office/powerpoint/2010/main" val="36725913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hasCustomPrompt="1"/>
          </p:nvPr>
        </p:nvSpPr>
        <p:spPr>
          <a:xfrm>
            <a:off x="731520" y="365760"/>
            <a:ext cx="10741152" cy="1132258"/>
          </a:xfrm>
          <a:effectLst/>
        </p:spPr>
        <p:txBody>
          <a:bodyPr/>
          <a:lstStyle>
            <a:lvl1pPr>
              <a:defRPr sz="6000" b="1">
                <a:effectLst>
                  <a:glow rad="127000">
                    <a:schemeClr val="bg1">
                      <a:alpha val="70000"/>
                    </a:schemeClr>
                  </a:glow>
                </a:effectLst>
                <a:latin typeface="+mn-lt"/>
              </a:defRPr>
            </a:lvl1pPr>
          </a:lstStyle>
          <a:p>
            <a:r>
              <a:rPr lang="en-US" dirty="0"/>
              <a:t>Title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BYU GEOGRAPHY</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a:effectLst>
            <a:glow rad="228600">
              <a:schemeClr val="accent4">
                <a:satMod val="175000"/>
                <a:alpha val="40000"/>
              </a:schemeClr>
            </a:glow>
            <a:outerShdw blurRad="190500" dist="50800" dir="2700000" algn="ctr" rotWithShape="0">
              <a:schemeClr val="bg1"/>
            </a:outerShdw>
          </a:effectLst>
        </p:spPr>
        <p:txBody>
          <a:bodyPr>
            <a:normAutofit/>
          </a:bodyPr>
          <a:lstStyle>
            <a:lvl1pPr>
              <a:lnSpc>
                <a:spcPct val="100000"/>
              </a:lnSpc>
              <a:spcBef>
                <a:spcPts val="600"/>
              </a:spcBef>
              <a:buFont typeface="Arial" panose="020B0604020202020204" pitchFamily="34" charset="0"/>
              <a:buChar char="•"/>
              <a:defRPr sz="4400" b="1">
                <a:solidFill>
                  <a:schemeClr val="tx1"/>
                </a:solidFill>
                <a:effectLst>
                  <a:glow rad="127000">
                    <a:schemeClr val="bg1">
                      <a:alpha val="70000"/>
                    </a:schemeClr>
                  </a:glow>
                </a:effectLst>
              </a:defRPr>
            </a:lvl1pPr>
            <a:lvl2pPr>
              <a:lnSpc>
                <a:spcPct val="100000"/>
              </a:lnSpc>
              <a:spcBef>
                <a:spcPts val="300"/>
              </a:spcBef>
              <a:defRPr sz="3600" b="1" i="0">
                <a:solidFill>
                  <a:schemeClr val="tx1"/>
                </a:solidFill>
                <a:effectLst>
                  <a:glow rad="127000">
                    <a:schemeClr val="bg1">
                      <a:alpha val="70000"/>
                    </a:schemeClr>
                  </a:glow>
                </a:effectLst>
              </a:defRPr>
            </a:lvl2pPr>
            <a:lvl3pPr>
              <a:defRPr sz="1400">
                <a:solidFill>
                  <a:schemeClr val="tx1"/>
                </a:solidFill>
                <a:effectLst>
                  <a:glow rad="127000">
                    <a:schemeClr val="bg1">
                      <a:alpha val="70000"/>
                    </a:schemeClr>
                  </a:glow>
                </a:effectLst>
              </a:defRPr>
            </a:lvl3pPr>
            <a:lvl4pPr>
              <a:defRPr sz="1200">
                <a:solidFill>
                  <a:schemeClr val="tx1"/>
                </a:solidFill>
                <a:effectLst>
                  <a:glow rad="127000">
                    <a:schemeClr val="bg1">
                      <a:alpha val="70000"/>
                    </a:schemeClr>
                  </a:glow>
                </a:effectLst>
              </a:defRPr>
            </a:lvl4pPr>
            <a:lvl5pPr>
              <a:defRPr sz="1200">
                <a:solidFill>
                  <a:schemeClr val="tx1"/>
                </a:solidFill>
                <a:effectLst>
                  <a:glow rad="127000">
                    <a:schemeClr val="bg1">
                      <a:alpha val="70000"/>
                    </a:schemeClr>
                  </a:glow>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spTree>
    <p:extLst>
      <p:ext uri="{BB962C8B-B14F-4D97-AF65-F5344CB8AC3E}">
        <p14:creationId xmlns:p14="http://schemas.microsoft.com/office/powerpoint/2010/main" val="356295471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ECE2C569-A778-4CAE-9F9A-23544BB94C66}" type="datetimeFigureOut">
              <a:rPr lang="en-US" smtClean="0"/>
              <a:t>10/21/2026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18AEBC75-D87A-4B21-B386-6C6D999C8F46}" type="slidenum">
              <a:rPr lang="en-US" smtClean="0"/>
              <a:t>‹#›</a:t>
            </a:fld>
            <a:endParaRPr lang="en-US"/>
          </a:p>
        </p:txBody>
      </p:sp>
    </p:spTree>
    <p:extLst>
      <p:ext uri="{BB962C8B-B14F-4D97-AF65-F5344CB8AC3E}">
        <p14:creationId xmlns:p14="http://schemas.microsoft.com/office/powerpoint/2010/main" val="23618278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18AEBC75-D87A-4B21-B386-6C6D999C8F46}" type="slidenum">
              <a:rPr lang="en-US" smtClean="0"/>
              <a:t>‹#›</a:t>
            </a:fld>
            <a:endParaRPr lang="en-US"/>
          </a:p>
        </p:txBody>
      </p:sp>
    </p:spTree>
    <p:extLst>
      <p:ext uri="{BB962C8B-B14F-4D97-AF65-F5344CB8AC3E}">
        <p14:creationId xmlns:p14="http://schemas.microsoft.com/office/powerpoint/2010/main" val="6036399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27354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spTree>
    <p:extLst>
      <p:ext uri="{BB962C8B-B14F-4D97-AF65-F5344CB8AC3E}">
        <p14:creationId xmlns:p14="http://schemas.microsoft.com/office/powerpoint/2010/main" val="868921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8249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4603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5040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18AEBC75-D87A-4B21-B386-6C6D999C8F46}"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4315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ECE2C569-A778-4CAE-9F9A-23544BB94C66}" type="datetimeFigureOut">
              <a:rPr lang="en-US" smtClean="0"/>
              <a:t>10/21/2026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18AEBC75-D87A-4B21-B386-6C6D999C8F46}" type="slidenum">
              <a:rPr lang="en-US" smtClean="0"/>
              <a:t>‹#›</a:t>
            </a:fld>
            <a:endParaRPr lang="en-US"/>
          </a:p>
        </p:txBody>
      </p:sp>
    </p:spTree>
    <p:extLst>
      <p:ext uri="{BB962C8B-B14F-4D97-AF65-F5344CB8AC3E}">
        <p14:creationId xmlns:p14="http://schemas.microsoft.com/office/powerpoint/2010/main" val="28156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ECE2C569-A778-4CAE-9F9A-23544BB94C66}" type="datetimeFigureOut">
              <a:rPr lang="en-US" smtClean="0"/>
              <a:t>10/21/2026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18AEBC75-D87A-4B21-B386-6C6D999C8F46}" type="slidenum">
              <a:rPr lang="en-US" smtClean="0"/>
              <a:t>‹#›</a:t>
            </a:fld>
            <a:endParaRPr lang="en-US"/>
          </a:p>
        </p:txBody>
      </p:sp>
    </p:spTree>
    <p:extLst>
      <p:ext uri="{BB962C8B-B14F-4D97-AF65-F5344CB8AC3E}">
        <p14:creationId xmlns:p14="http://schemas.microsoft.com/office/powerpoint/2010/main" val="17238591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ECE2C569-A778-4CAE-9F9A-23544BB94C66}" type="datetimeFigureOut">
              <a:rPr lang="en-US" smtClean="0"/>
              <a:t>10/21/2026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18AEBC75-D87A-4B21-B386-6C6D999C8F46}" type="slidenum">
              <a:rPr lang="en-US" smtClean="0"/>
              <a:t>‹#›</a:t>
            </a:fld>
            <a:endParaRPr lang="en-US"/>
          </a:p>
        </p:txBody>
      </p:sp>
    </p:spTree>
    <p:extLst>
      <p:ext uri="{BB962C8B-B14F-4D97-AF65-F5344CB8AC3E}">
        <p14:creationId xmlns:p14="http://schemas.microsoft.com/office/powerpoint/2010/main" val="2989380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ECE2C569-A778-4CAE-9F9A-23544BB94C66}" type="datetimeFigureOut">
              <a:rPr lang="en-US" smtClean="0"/>
              <a:t>10/21/2026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18AEBC75-D87A-4B21-B386-6C6D999C8F46}" type="slidenum">
              <a:rPr lang="en-US" smtClean="0"/>
              <a:t>‹#›</a:t>
            </a:fld>
            <a:endParaRPr lang="en-US"/>
          </a:p>
        </p:txBody>
      </p:sp>
    </p:spTree>
    <p:extLst>
      <p:ext uri="{BB962C8B-B14F-4D97-AF65-F5344CB8AC3E}">
        <p14:creationId xmlns:p14="http://schemas.microsoft.com/office/powerpoint/2010/main" val="25916288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ECE2C569-A778-4CAE-9F9A-23544BB94C66}" type="datetimeFigureOut">
              <a:rPr lang="en-US" smtClean="0"/>
              <a:t>10/21/2026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18AEBC75-D87A-4B21-B386-6C6D999C8F46}" type="slidenum">
              <a:rPr lang="en-US" smtClean="0"/>
              <a:t>‹#›</a:t>
            </a:fld>
            <a:endParaRPr lang="en-US"/>
          </a:p>
        </p:txBody>
      </p:sp>
    </p:spTree>
    <p:extLst>
      <p:ext uri="{BB962C8B-B14F-4D97-AF65-F5344CB8AC3E}">
        <p14:creationId xmlns:p14="http://schemas.microsoft.com/office/powerpoint/2010/main" val="7502055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7912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99509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ECE2C569-A778-4CAE-9F9A-23544BB94C66}" type="datetimeFigureOut">
              <a:rPr lang="en-US" smtClean="0"/>
              <a:t>10/21/2026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18AEBC75-D87A-4B21-B386-6C6D999C8F46}"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1551652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74058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3069496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spTree>
    <p:extLst>
      <p:ext uri="{BB962C8B-B14F-4D97-AF65-F5344CB8AC3E}">
        <p14:creationId xmlns:p14="http://schemas.microsoft.com/office/powerpoint/2010/main" val="16997386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spTree>
    <p:extLst>
      <p:ext uri="{BB962C8B-B14F-4D97-AF65-F5344CB8AC3E}">
        <p14:creationId xmlns:p14="http://schemas.microsoft.com/office/powerpoint/2010/main" val="24998733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spTree>
    <p:extLst>
      <p:ext uri="{BB962C8B-B14F-4D97-AF65-F5344CB8AC3E}">
        <p14:creationId xmlns:p14="http://schemas.microsoft.com/office/powerpoint/2010/main" val="9532542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spTree>
    <p:extLst>
      <p:ext uri="{BB962C8B-B14F-4D97-AF65-F5344CB8AC3E}">
        <p14:creationId xmlns:p14="http://schemas.microsoft.com/office/powerpoint/2010/main" val="29134944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spTree>
    <p:extLst>
      <p:ext uri="{BB962C8B-B14F-4D97-AF65-F5344CB8AC3E}">
        <p14:creationId xmlns:p14="http://schemas.microsoft.com/office/powerpoint/2010/main" val="40644285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18AEBC75-D87A-4B21-B386-6C6D999C8F46}" type="slidenum">
              <a:rPr lang="en-US" smtClean="0"/>
              <a:t>‹#›</a:t>
            </a:fld>
            <a:endParaRPr lang="en-US"/>
          </a:p>
        </p:txBody>
      </p:sp>
    </p:spTree>
    <p:extLst>
      <p:ext uri="{BB962C8B-B14F-4D97-AF65-F5344CB8AC3E}">
        <p14:creationId xmlns:p14="http://schemas.microsoft.com/office/powerpoint/2010/main" val="15205701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18AEBC75-D87A-4B21-B386-6C6D999C8F46}" type="slidenum">
              <a:rPr lang="en-US" smtClean="0"/>
              <a:t>‹#›</a:t>
            </a:fld>
            <a:endParaRPr lang="en-US"/>
          </a:p>
        </p:txBody>
      </p:sp>
    </p:spTree>
    <p:extLst>
      <p:ext uri="{BB962C8B-B14F-4D97-AF65-F5344CB8AC3E}">
        <p14:creationId xmlns:p14="http://schemas.microsoft.com/office/powerpoint/2010/main" val="19538647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6C82F-91E2-9504-FBDA-7CB575B097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485E30-54BF-7E0E-E955-43BF819C70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55C697-3427-6C78-6AE2-A601FC13CCFA}"/>
              </a:ext>
            </a:extLst>
          </p:cNvPr>
          <p:cNvSpPr>
            <a:spLocks noGrp="1"/>
          </p:cNvSpPr>
          <p:nvPr>
            <p:ph type="dt" sz="half" idx="10"/>
          </p:nvPr>
        </p:nvSpPr>
        <p:spPr/>
        <p:txBody>
          <a:bodyPr/>
          <a:lstStyle/>
          <a:p>
            <a:fld id="{ECE2C569-A778-4CAE-9F9A-23544BB94C66}" type="datetimeFigureOut">
              <a:rPr lang="en-US" smtClean="0"/>
              <a:t>10/21/2026</a:t>
            </a:fld>
            <a:endParaRPr lang="en-US"/>
          </a:p>
        </p:txBody>
      </p:sp>
      <p:sp>
        <p:nvSpPr>
          <p:cNvPr id="5" name="Footer Placeholder 4">
            <a:extLst>
              <a:ext uri="{FF2B5EF4-FFF2-40B4-BE49-F238E27FC236}">
                <a16:creationId xmlns:a16="http://schemas.microsoft.com/office/drawing/2014/main" id="{F062325F-F377-417E-E4BD-A4D874258D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DCFBA5-DDD1-B981-EE0A-8F0E42A82E3F}"/>
              </a:ext>
            </a:extLst>
          </p:cNvPr>
          <p:cNvSpPr>
            <a:spLocks noGrp="1"/>
          </p:cNvSpPr>
          <p:nvPr>
            <p:ph type="sldNum" sz="quarter" idx="12"/>
          </p:nvPr>
        </p:nvSpPr>
        <p:spPr/>
        <p:txBody>
          <a:bodyPr/>
          <a:lstStyle/>
          <a:p>
            <a:fld id="{18AEBC75-D87A-4B21-B386-6C6D999C8F46}" type="slidenum">
              <a:rPr lang="en-US" smtClean="0"/>
              <a:t>‹#›</a:t>
            </a:fld>
            <a:endParaRPr lang="en-US"/>
          </a:p>
        </p:txBody>
      </p:sp>
    </p:spTree>
    <p:extLst>
      <p:ext uri="{BB962C8B-B14F-4D97-AF65-F5344CB8AC3E}">
        <p14:creationId xmlns:p14="http://schemas.microsoft.com/office/powerpoint/2010/main" val="36414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ECE2C569-A778-4CAE-9F9A-23544BB94C66}" type="datetimeFigureOut">
              <a:rPr lang="en-US" smtClean="0"/>
              <a:t>10/21/2026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18AEBC75-D87A-4B21-B386-6C6D999C8F46}"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05876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hyperlink" Target="mailto:plewe@byu.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FE83245-39C2-45B4-0402-7F787DCD3A9B}"/>
              </a:ext>
            </a:extLst>
          </p:cNvPr>
          <p:cNvPicPr>
            <a:picLocks noChangeAspect="1"/>
          </p:cNvPicPr>
          <p:nvPr/>
        </p:nvPicPr>
        <p:blipFill>
          <a:blip r:embed="rId3"/>
          <a:stretch>
            <a:fillRect/>
          </a:stretch>
        </p:blipFill>
        <p:spPr>
          <a:xfrm>
            <a:off x="0" y="993"/>
            <a:ext cx="12192000" cy="6856013"/>
          </a:xfrm>
          <a:prstGeom prst="rect">
            <a:avLst/>
          </a:prstGeom>
        </p:spPr>
      </p:pic>
      <p:sp>
        <p:nvSpPr>
          <p:cNvPr id="2" name="Title 1">
            <a:extLst>
              <a:ext uri="{FF2B5EF4-FFF2-40B4-BE49-F238E27FC236}">
                <a16:creationId xmlns:a16="http://schemas.microsoft.com/office/drawing/2014/main" id="{CDF5F210-9FEF-BB04-129D-8812140BEDF7}"/>
              </a:ext>
            </a:extLst>
          </p:cNvPr>
          <p:cNvSpPr>
            <a:spLocks noGrp="1"/>
          </p:cNvSpPr>
          <p:nvPr>
            <p:ph type="ctrTitle"/>
          </p:nvPr>
        </p:nvSpPr>
        <p:spPr/>
        <p:txBody>
          <a:bodyPr>
            <a:normAutofit/>
          </a:bodyPr>
          <a:lstStyle/>
          <a:p>
            <a:r>
              <a:rPr lang="en-US" sz="8000" b="1" dirty="0">
                <a:latin typeface="+mn-lt"/>
              </a:rPr>
              <a:t>Visualizing 1492</a:t>
            </a:r>
          </a:p>
        </p:txBody>
      </p:sp>
      <p:sp>
        <p:nvSpPr>
          <p:cNvPr id="3" name="Subtitle 2">
            <a:extLst>
              <a:ext uri="{FF2B5EF4-FFF2-40B4-BE49-F238E27FC236}">
                <a16:creationId xmlns:a16="http://schemas.microsoft.com/office/drawing/2014/main" id="{2D722631-7B25-799A-7D6F-7EC181E2EADB}"/>
              </a:ext>
            </a:extLst>
          </p:cNvPr>
          <p:cNvSpPr>
            <a:spLocks noGrp="1"/>
          </p:cNvSpPr>
          <p:nvPr>
            <p:ph type="subTitle" idx="1"/>
          </p:nvPr>
        </p:nvSpPr>
        <p:spPr>
          <a:xfrm>
            <a:off x="1524000" y="5017883"/>
            <a:ext cx="9144000" cy="1655762"/>
          </a:xfrm>
        </p:spPr>
        <p:txBody>
          <a:bodyPr>
            <a:normAutofit/>
          </a:bodyPr>
          <a:lstStyle/>
          <a:p>
            <a:r>
              <a:rPr lang="en-US" sz="4000" b="1" dirty="0"/>
              <a:t>Brandon Plewe</a:t>
            </a:r>
          </a:p>
          <a:p>
            <a:r>
              <a:rPr lang="en-US" sz="4000" b="1" dirty="0"/>
              <a:t>Brigham Young University</a:t>
            </a:r>
          </a:p>
        </p:txBody>
      </p:sp>
    </p:spTree>
    <p:extLst>
      <p:ext uri="{BB962C8B-B14F-4D97-AF65-F5344CB8AC3E}">
        <p14:creationId xmlns:p14="http://schemas.microsoft.com/office/powerpoint/2010/main" val="1965675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65497A1-54B2-5381-D6D8-C7FFE829BC04}"/>
              </a:ext>
            </a:extLst>
          </p:cNvPr>
          <p:cNvPicPr>
            <a:picLocks noChangeAspect="1"/>
          </p:cNvPicPr>
          <p:nvPr/>
        </p:nvPicPr>
        <p:blipFill>
          <a:blip r:embed="rId3">
            <a:alphaModFix amt="85000"/>
          </a:blip>
          <a:stretch>
            <a:fillRect/>
          </a:stretch>
        </p:blipFill>
        <p:spPr>
          <a:xfrm>
            <a:off x="0" y="0"/>
            <a:ext cx="12192000" cy="6852438"/>
          </a:xfrm>
          <a:prstGeom prst="rect">
            <a:avLst/>
          </a:prstGeom>
        </p:spPr>
      </p:pic>
      <p:sp>
        <p:nvSpPr>
          <p:cNvPr id="4" name="Title 3">
            <a:extLst>
              <a:ext uri="{FF2B5EF4-FFF2-40B4-BE49-F238E27FC236}">
                <a16:creationId xmlns:a16="http://schemas.microsoft.com/office/drawing/2014/main" id="{3DEE1B03-8F9A-5758-4AC2-BD4A0378A4C2}"/>
              </a:ext>
            </a:extLst>
          </p:cNvPr>
          <p:cNvSpPr>
            <a:spLocks noGrp="1"/>
          </p:cNvSpPr>
          <p:nvPr>
            <p:ph type="title"/>
          </p:nvPr>
        </p:nvSpPr>
        <p:spPr/>
        <p:txBody>
          <a:bodyPr/>
          <a:lstStyle/>
          <a:p>
            <a:r>
              <a:rPr lang="en-US" dirty="0"/>
              <a:t>Why 1492?</a:t>
            </a:r>
          </a:p>
        </p:txBody>
      </p:sp>
      <p:sp>
        <p:nvSpPr>
          <p:cNvPr id="5" name="Content Placeholder 4">
            <a:extLst>
              <a:ext uri="{FF2B5EF4-FFF2-40B4-BE49-F238E27FC236}">
                <a16:creationId xmlns:a16="http://schemas.microsoft.com/office/drawing/2014/main" id="{91BCC824-5B65-0BBB-2CA4-6555429C5DF7}"/>
              </a:ext>
            </a:extLst>
          </p:cNvPr>
          <p:cNvSpPr>
            <a:spLocks noGrp="1"/>
          </p:cNvSpPr>
          <p:nvPr>
            <p:ph idx="1"/>
          </p:nvPr>
        </p:nvSpPr>
        <p:spPr/>
        <p:txBody>
          <a:bodyPr/>
          <a:lstStyle/>
          <a:p>
            <a:r>
              <a:rPr lang="en-US" dirty="0"/>
              <a:t>The eve of European hegemony</a:t>
            </a:r>
          </a:p>
          <a:p>
            <a:r>
              <a:rPr lang="en-US" dirty="0"/>
              <a:t>The world on its own terms</a:t>
            </a:r>
          </a:p>
          <a:p>
            <a:r>
              <a:rPr lang="en-US" dirty="0"/>
              <a:t>700+ states!</a:t>
            </a:r>
          </a:p>
          <a:p>
            <a:r>
              <a:rPr lang="en-US" dirty="0"/>
              <a:t>I like “it’s complicated”</a:t>
            </a:r>
          </a:p>
        </p:txBody>
      </p:sp>
    </p:spTree>
    <p:extLst>
      <p:ext uri="{BB962C8B-B14F-4D97-AF65-F5344CB8AC3E}">
        <p14:creationId xmlns:p14="http://schemas.microsoft.com/office/powerpoint/2010/main" val="4032805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ADD1A1B-1C32-5A66-F080-C813504EC74B}"/>
              </a:ext>
            </a:extLst>
          </p:cNvPr>
          <p:cNvPicPr>
            <a:picLocks noChangeAspect="1"/>
          </p:cNvPicPr>
          <p:nvPr/>
        </p:nvPicPr>
        <p:blipFill>
          <a:blip r:embed="rId3">
            <a:alphaModFix amt="70000"/>
          </a:blip>
          <a:stretch>
            <a:fillRect/>
          </a:stretch>
        </p:blipFill>
        <p:spPr>
          <a:xfrm>
            <a:off x="0" y="993"/>
            <a:ext cx="12192000" cy="6856013"/>
          </a:xfrm>
          <a:prstGeom prst="rect">
            <a:avLst/>
          </a:prstGeom>
        </p:spPr>
      </p:pic>
      <p:sp>
        <p:nvSpPr>
          <p:cNvPr id="2" name="Title 1">
            <a:extLst>
              <a:ext uri="{FF2B5EF4-FFF2-40B4-BE49-F238E27FC236}">
                <a16:creationId xmlns:a16="http://schemas.microsoft.com/office/drawing/2014/main" id="{D9F5E080-0B86-4847-6B08-481BEEA633D3}"/>
              </a:ext>
            </a:extLst>
          </p:cNvPr>
          <p:cNvSpPr>
            <a:spLocks noGrp="1"/>
          </p:cNvSpPr>
          <p:nvPr>
            <p:ph type="title"/>
          </p:nvPr>
        </p:nvSpPr>
        <p:spPr/>
        <p:txBody>
          <a:bodyPr/>
          <a:lstStyle/>
          <a:p>
            <a:r>
              <a:rPr lang="en-US" dirty="0"/>
              <a:t>The state in 1492</a:t>
            </a:r>
          </a:p>
        </p:txBody>
      </p:sp>
      <p:sp>
        <p:nvSpPr>
          <p:cNvPr id="3" name="Content Placeholder 2">
            <a:extLst>
              <a:ext uri="{FF2B5EF4-FFF2-40B4-BE49-F238E27FC236}">
                <a16:creationId xmlns:a16="http://schemas.microsoft.com/office/drawing/2014/main" id="{DD520A81-3744-6D2F-895E-F78AF72E0797}"/>
              </a:ext>
            </a:extLst>
          </p:cNvPr>
          <p:cNvSpPr>
            <a:spLocks noGrp="1"/>
          </p:cNvSpPr>
          <p:nvPr>
            <p:ph idx="1"/>
          </p:nvPr>
        </p:nvSpPr>
        <p:spPr/>
        <p:txBody>
          <a:bodyPr/>
          <a:lstStyle/>
          <a:p>
            <a:r>
              <a:rPr lang="en-US" dirty="0"/>
              <a:t>Montevideo 1933, but…</a:t>
            </a:r>
          </a:p>
          <a:p>
            <a:r>
              <a:rPr lang="en-US" dirty="0"/>
              <a:t>State-ness</a:t>
            </a:r>
          </a:p>
          <a:p>
            <a:r>
              <a:rPr lang="en-US" dirty="0"/>
              <a:t>Sovereign-ness</a:t>
            </a:r>
          </a:p>
          <a:p>
            <a:r>
              <a:rPr lang="en-US" dirty="0"/>
              <a:t>Territory-ness</a:t>
            </a:r>
          </a:p>
          <a:p>
            <a:r>
              <a:rPr lang="en-US" dirty="0"/>
              <a:t>Knowledge-ness</a:t>
            </a:r>
          </a:p>
        </p:txBody>
      </p:sp>
    </p:spTree>
    <p:extLst>
      <p:ext uri="{BB962C8B-B14F-4D97-AF65-F5344CB8AC3E}">
        <p14:creationId xmlns:p14="http://schemas.microsoft.com/office/powerpoint/2010/main" val="470656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33C3803-0875-44F7-D1BA-E1682834EF67}"/>
              </a:ext>
            </a:extLst>
          </p:cNvPr>
          <p:cNvPicPr>
            <a:picLocks noChangeAspect="1"/>
          </p:cNvPicPr>
          <p:nvPr/>
        </p:nvPicPr>
        <p:blipFill>
          <a:blip r:embed="rId3">
            <a:alphaModFix amt="70000"/>
          </a:blip>
          <a:stretch>
            <a:fillRect/>
          </a:stretch>
        </p:blipFill>
        <p:spPr>
          <a:xfrm>
            <a:off x="0" y="2781"/>
            <a:ext cx="12192000" cy="6852438"/>
          </a:xfrm>
          <a:prstGeom prst="rect">
            <a:avLst/>
          </a:prstGeom>
        </p:spPr>
      </p:pic>
      <p:sp>
        <p:nvSpPr>
          <p:cNvPr id="2" name="Title 1">
            <a:extLst>
              <a:ext uri="{FF2B5EF4-FFF2-40B4-BE49-F238E27FC236}">
                <a16:creationId xmlns:a16="http://schemas.microsoft.com/office/drawing/2014/main" id="{D444C318-F5B1-4870-F91D-31B50BE703D5}"/>
              </a:ext>
            </a:extLst>
          </p:cNvPr>
          <p:cNvSpPr>
            <a:spLocks noGrp="1"/>
          </p:cNvSpPr>
          <p:nvPr>
            <p:ph type="title"/>
          </p:nvPr>
        </p:nvSpPr>
        <p:spPr/>
        <p:txBody>
          <a:bodyPr/>
          <a:lstStyle/>
          <a:p>
            <a:r>
              <a:rPr lang="en-US" dirty="0"/>
              <a:t>But do we care?</a:t>
            </a:r>
          </a:p>
        </p:txBody>
      </p:sp>
      <p:sp>
        <p:nvSpPr>
          <p:cNvPr id="3" name="Content Placeholder 2">
            <a:extLst>
              <a:ext uri="{FF2B5EF4-FFF2-40B4-BE49-F238E27FC236}">
                <a16:creationId xmlns:a16="http://schemas.microsoft.com/office/drawing/2014/main" id="{8791341A-E81A-F2F6-A769-594A64A3416F}"/>
              </a:ext>
            </a:extLst>
          </p:cNvPr>
          <p:cNvSpPr>
            <a:spLocks noGrp="1"/>
          </p:cNvSpPr>
          <p:nvPr>
            <p:ph idx="1"/>
          </p:nvPr>
        </p:nvSpPr>
        <p:spPr/>
        <p:txBody>
          <a:bodyPr/>
          <a:lstStyle/>
          <a:p>
            <a:r>
              <a:rPr lang="en-US" dirty="0"/>
              <a:t>Audience, purpose, scale</a:t>
            </a:r>
          </a:p>
          <a:p>
            <a:r>
              <a:rPr lang="en-US" dirty="0"/>
              <a:t>“</a:t>
            </a:r>
            <a:r>
              <a:rPr lang="en-US" dirty="0" err="1"/>
              <a:t>ish</a:t>
            </a:r>
            <a:r>
              <a:rPr lang="en-US" dirty="0"/>
              <a:t>” is enough</a:t>
            </a:r>
          </a:p>
          <a:p>
            <a:pPr lvl="1"/>
            <a:r>
              <a:rPr lang="en-US" dirty="0"/>
              <a:t>Fuzzy sets</a:t>
            </a:r>
          </a:p>
          <a:p>
            <a:pPr lvl="1"/>
            <a:r>
              <a:rPr lang="en-US" dirty="0" err="1"/>
              <a:t>MacEachren</a:t>
            </a:r>
            <a:r>
              <a:rPr lang="en-US" dirty="0"/>
              <a:t> CP 1992</a:t>
            </a:r>
          </a:p>
          <a:p>
            <a:pPr lvl="1"/>
            <a:r>
              <a:rPr lang="en-US" strike="sngStrike" dirty="0"/>
              <a:t>Plewe 2003 </a:t>
            </a:r>
          </a:p>
          <a:p>
            <a:r>
              <a:rPr lang="en-US" dirty="0"/>
              <a:t>Something a historian could actually do</a:t>
            </a:r>
          </a:p>
          <a:p>
            <a:r>
              <a:rPr lang="en-US" dirty="0"/>
              <a:t>Reproducible, automatable</a:t>
            </a:r>
          </a:p>
        </p:txBody>
      </p:sp>
    </p:spTree>
    <p:extLst>
      <p:ext uri="{BB962C8B-B14F-4D97-AF65-F5344CB8AC3E}">
        <p14:creationId xmlns:p14="http://schemas.microsoft.com/office/powerpoint/2010/main" val="120685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51F17C9-B324-4F24-9C5A-AC53BA2CE260}"/>
              </a:ext>
            </a:extLst>
          </p:cNvPr>
          <p:cNvPicPr>
            <a:picLocks noChangeAspect="1"/>
          </p:cNvPicPr>
          <p:nvPr/>
        </p:nvPicPr>
        <p:blipFill>
          <a:blip r:embed="rId3">
            <a:alphaModFix amt="50000"/>
            <a:extLst>
              <a:ext uri="{28A0092B-C50C-407E-A947-70E740481C1C}">
                <a14:useLocalDpi xmlns:a14="http://schemas.microsoft.com/office/drawing/2010/main" val="0"/>
              </a:ext>
            </a:extLst>
          </a:blip>
          <a:stretch>
            <a:fillRect/>
          </a:stretch>
        </p:blipFill>
        <p:spPr>
          <a:xfrm>
            <a:off x="0" y="0"/>
            <a:ext cx="12700000" cy="6858000"/>
          </a:xfrm>
          <a:prstGeom prst="rect">
            <a:avLst/>
          </a:prstGeom>
        </p:spPr>
      </p:pic>
      <p:sp>
        <p:nvSpPr>
          <p:cNvPr id="2" name="Title 1">
            <a:extLst>
              <a:ext uri="{FF2B5EF4-FFF2-40B4-BE49-F238E27FC236}">
                <a16:creationId xmlns:a16="http://schemas.microsoft.com/office/drawing/2014/main" id="{78990FD1-BDDD-617A-6269-1DFC86F588CD}"/>
              </a:ext>
            </a:extLst>
          </p:cNvPr>
          <p:cNvSpPr>
            <a:spLocks noGrp="1"/>
          </p:cNvSpPr>
          <p:nvPr>
            <p:ph type="title"/>
          </p:nvPr>
        </p:nvSpPr>
        <p:spPr/>
        <p:txBody>
          <a:bodyPr/>
          <a:lstStyle/>
          <a:p>
            <a:r>
              <a:rPr lang="en-US" dirty="0"/>
              <a:t>The Data</a:t>
            </a:r>
          </a:p>
        </p:txBody>
      </p:sp>
      <p:sp>
        <p:nvSpPr>
          <p:cNvPr id="3" name="Content Placeholder 2">
            <a:extLst>
              <a:ext uri="{FF2B5EF4-FFF2-40B4-BE49-F238E27FC236}">
                <a16:creationId xmlns:a16="http://schemas.microsoft.com/office/drawing/2014/main" id="{A5BCE520-C0E0-15AE-1E9B-BE7D2782FA7D}"/>
              </a:ext>
            </a:extLst>
          </p:cNvPr>
          <p:cNvSpPr>
            <a:spLocks noGrp="1"/>
          </p:cNvSpPr>
          <p:nvPr>
            <p:ph idx="1"/>
          </p:nvPr>
        </p:nvSpPr>
        <p:spPr/>
        <p:txBody>
          <a:bodyPr>
            <a:normAutofit lnSpcReduction="10000"/>
          </a:bodyPr>
          <a:lstStyle/>
          <a:p>
            <a:r>
              <a:rPr lang="en-US" dirty="0">
                <a:effectLst>
                  <a:glow rad="127000">
                    <a:schemeClr val="bg1">
                      <a:lumMod val="95000"/>
                      <a:alpha val="70000"/>
                    </a:schemeClr>
                  </a:glow>
                </a:effectLst>
              </a:rPr>
              <a:t>State polygons</a:t>
            </a:r>
          </a:p>
          <a:p>
            <a:pPr lvl="1"/>
            <a:r>
              <a:rPr lang="en-US" dirty="0">
                <a:effectLst>
                  <a:glow rad="127000">
                    <a:schemeClr val="bg1">
                      <a:lumMod val="95000"/>
                      <a:alpha val="70000"/>
                    </a:schemeClr>
                  </a:glow>
                </a:effectLst>
              </a:rPr>
              <a:t>Levels of sovereignty: sovereign states, dependent states, supra-states</a:t>
            </a:r>
          </a:p>
          <a:p>
            <a:pPr lvl="1"/>
            <a:r>
              <a:rPr lang="en-US" dirty="0">
                <a:effectLst>
                  <a:glow rad="127000">
                    <a:schemeClr val="bg1">
                      <a:lumMod val="95000"/>
                      <a:alpha val="70000"/>
                    </a:schemeClr>
                  </a:glow>
                </a:effectLst>
              </a:rPr>
              <a:t>Uncertain existence flag</a:t>
            </a:r>
          </a:p>
          <a:p>
            <a:r>
              <a:rPr lang="en-US" dirty="0">
                <a:effectLst>
                  <a:glow rad="127000">
                    <a:schemeClr val="bg1">
                      <a:lumMod val="95000"/>
                      <a:alpha val="70000"/>
                    </a:schemeClr>
                  </a:glow>
                </a:effectLst>
              </a:rPr>
              <a:t>Boundary lines</a:t>
            </a:r>
          </a:p>
          <a:p>
            <a:pPr lvl="1"/>
            <a:r>
              <a:rPr lang="en-US" dirty="0">
                <a:effectLst>
                  <a:glow rad="127000">
                    <a:schemeClr val="bg1">
                      <a:lumMod val="95000"/>
                      <a:alpha val="70000"/>
                    </a:schemeClr>
                  </a:glow>
                </a:effectLst>
              </a:rPr>
              <a:t>Disaggregated by certainty</a:t>
            </a:r>
          </a:p>
          <a:p>
            <a:pPr lvl="1"/>
            <a:r>
              <a:rPr lang="en-US" dirty="0">
                <a:effectLst>
                  <a:glow rad="127000">
                    <a:schemeClr val="bg1">
                      <a:lumMod val="95000"/>
                      <a:alpha val="70000"/>
                    </a:schemeClr>
                  </a:glow>
                </a:effectLst>
              </a:rPr>
              <a:t>Transition zone width (order-</a:t>
            </a:r>
            <a:r>
              <a:rPr lang="en-US" dirty="0" err="1">
                <a:effectLst>
                  <a:glow rad="127000">
                    <a:schemeClr val="bg1">
                      <a:lumMod val="95000"/>
                      <a:alpha val="70000"/>
                    </a:schemeClr>
                  </a:glow>
                </a:effectLst>
              </a:rPr>
              <a:t>ish</a:t>
            </a:r>
            <a:r>
              <a:rPr lang="en-US" dirty="0">
                <a:effectLst>
                  <a:glow rad="127000">
                    <a:schemeClr val="bg1">
                      <a:lumMod val="95000"/>
                      <a:alpha val="70000"/>
                    </a:schemeClr>
                  </a:glow>
                </a:effectLst>
              </a:rPr>
              <a:t> of magnitude)</a:t>
            </a:r>
          </a:p>
          <a:p>
            <a:pPr lvl="1"/>
            <a:r>
              <a:rPr lang="en-US" dirty="0">
                <a:effectLst>
                  <a:glow rad="127000">
                    <a:schemeClr val="bg1">
                      <a:lumMod val="95000"/>
                      <a:alpha val="70000"/>
                    </a:schemeClr>
                  </a:glow>
                </a:effectLst>
              </a:rPr>
              <a:t>1=200-500m . . . 4 = 5-12km . . . 8 = 200-500km</a:t>
            </a:r>
          </a:p>
        </p:txBody>
      </p:sp>
    </p:spTree>
    <p:extLst>
      <p:ext uri="{BB962C8B-B14F-4D97-AF65-F5344CB8AC3E}">
        <p14:creationId xmlns:p14="http://schemas.microsoft.com/office/powerpoint/2010/main" val="3730779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654EBA83-375A-B3C8-7F40-8D56F1FB2D4B}"/>
              </a:ext>
            </a:extLst>
          </p:cNvPr>
          <p:cNvPicPr>
            <a:picLocks noChangeAspect="1"/>
          </p:cNvPicPr>
          <p:nvPr/>
        </p:nvPicPr>
        <p:blipFill>
          <a:blip r:embed="rId3">
            <a:alphaModFix amt="50000"/>
          </a:blip>
          <a:stretch>
            <a:fillRect/>
          </a:stretch>
        </p:blipFill>
        <p:spPr>
          <a:xfrm>
            <a:off x="0" y="5562"/>
            <a:ext cx="12192000" cy="6852438"/>
          </a:xfrm>
          <a:prstGeom prst="rect">
            <a:avLst/>
          </a:prstGeom>
        </p:spPr>
      </p:pic>
      <p:sp>
        <p:nvSpPr>
          <p:cNvPr id="2" name="Title 1">
            <a:extLst>
              <a:ext uri="{FF2B5EF4-FFF2-40B4-BE49-F238E27FC236}">
                <a16:creationId xmlns:a16="http://schemas.microsoft.com/office/drawing/2014/main" id="{29384C43-1A1B-9257-C79A-A03C84511B8C}"/>
              </a:ext>
            </a:extLst>
          </p:cNvPr>
          <p:cNvSpPr>
            <a:spLocks noGrp="1"/>
          </p:cNvSpPr>
          <p:nvPr>
            <p:ph type="title"/>
          </p:nvPr>
        </p:nvSpPr>
        <p:spPr/>
        <p:txBody>
          <a:bodyPr/>
          <a:lstStyle/>
          <a:p>
            <a:r>
              <a:rPr lang="en-US" dirty="0"/>
              <a:t>Processing . . .</a:t>
            </a:r>
          </a:p>
        </p:txBody>
      </p:sp>
      <p:sp>
        <p:nvSpPr>
          <p:cNvPr id="3" name="Content Placeholder 2">
            <a:extLst>
              <a:ext uri="{FF2B5EF4-FFF2-40B4-BE49-F238E27FC236}">
                <a16:creationId xmlns:a16="http://schemas.microsoft.com/office/drawing/2014/main" id="{85F1C60B-1113-367D-18AE-140F3CC47EB4}"/>
              </a:ext>
            </a:extLst>
          </p:cNvPr>
          <p:cNvSpPr>
            <a:spLocks noGrp="1"/>
          </p:cNvSpPr>
          <p:nvPr>
            <p:ph idx="1"/>
          </p:nvPr>
        </p:nvSpPr>
        <p:spPr/>
        <p:txBody>
          <a:bodyPr/>
          <a:lstStyle/>
          <a:p>
            <a:pPr marL="742950" indent="-742950">
              <a:buFont typeface="+mj-lt"/>
              <a:buAutoNum type="arabicPeriod"/>
            </a:pPr>
            <a:r>
              <a:rPr lang="en-US" dirty="0"/>
              <a:t>Buffer boundaries at min + max widths</a:t>
            </a:r>
          </a:p>
          <a:p>
            <a:pPr marL="742950" indent="-742950">
              <a:buFont typeface="+mj-lt"/>
              <a:buAutoNum type="arabicPeriod"/>
            </a:pPr>
            <a:r>
              <a:rPr lang="en-US" dirty="0"/>
              <a:t>Add to, subtract from polygons</a:t>
            </a:r>
          </a:p>
          <a:p>
            <a:pPr lvl="1"/>
            <a:r>
              <a:rPr lang="en-US" dirty="0"/>
              <a:t>Iso-</a:t>
            </a:r>
            <a:r>
              <a:rPr lang="en-US" dirty="0" err="1"/>
              <a:t>sovs</a:t>
            </a:r>
            <a:r>
              <a:rPr lang="en-US" dirty="0"/>
              <a:t>(???) with membership</a:t>
            </a:r>
          </a:p>
          <a:p>
            <a:pPr lvl="1"/>
            <a:r>
              <a:rPr lang="en-US" dirty="0"/>
              <a:t>Dependent states lower</a:t>
            </a:r>
          </a:p>
          <a:p>
            <a:pPr marL="742950" indent="-742950">
              <a:buFont typeface="+mj-lt"/>
              <a:buAutoNum type="arabicPeriod"/>
            </a:pPr>
            <a:r>
              <a:rPr lang="en-US" dirty="0"/>
              <a:t>TIN</a:t>
            </a:r>
          </a:p>
          <a:p>
            <a:pPr marL="742950" indent="-742950">
              <a:buFont typeface="+mj-lt"/>
              <a:buAutoNum type="arabicPeriod"/>
            </a:pPr>
            <a:r>
              <a:rPr lang="en-US" dirty="0"/>
              <a:t>Raster of membership field for each color</a:t>
            </a:r>
          </a:p>
          <a:p>
            <a:pPr marL="742950" indent="-742950">
              <a:buFont typeface="+mj-lt"/>
              <a:buAutoNum type="arabicPeriod"/>
            </a:pPr>
            <a:r>
              <a:rPr lang="en-US" dirty="0"/>
              <a:t>6+1 colors, fuzzy edges, interblended</a:t>
            </a:r>
          </a:p>
          <a:p>
            <a:pPr>
              <a:buNone/>
            </a:pPr>
            <a:endParaRPr lang="en-US" dirty="0"/>
          </a:p>
          <a:p>
            <a:pPr marL="742950" indent="-742950">
              <a:buFont typeface="+mj-lt"/>
              <a:buAutoNum type="arabicPeriod"/>
            </a:pPr>
            <a:endParaRPr lang="en-US" dirty="0"/>
          </a:p>
        </p:txBody>
      </p:sp>
      <p:sp>
        <p:nvSpPr>
          <p:cNvPr id="10" name="Oval 9">
            <a:extLst>
              <a:ext uri="{FF2B5EF4-FFF2-40B4-BE49-F238E27FC236}">
                <a16:creationId xmlns:a16="http://schemas.microsoft.com/office/drawing/2014/main" id="{706DD67C-5E49-E5CC-B4D2-426FEBC693FF}"/>
              </a:ext>
            </a:extLst>
          </p:cNvPr>
          <p:cNvSpPr/>
          <p:nvPr/>
        </p:nvSpPr>
        <p:spPr>
          <a:xfrm>
            <a:off x="9016574" y="2363747"/>
            <a:ext cx="2835574" cy="2835574"/>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Oval 7">
            <a:extLst>
              <a:ext uri="{FF2B5EF4-FFF2-40B4-BE49-F238E27FC236}">
                <a16:creationId xmlns:a16="http://schemas.microsoft.com/office/drawing/2014/main" id="{E5587CF9-74DB-9757-A44E-F85908115454}"/>
              </a:ext>
            </a:extLst>
          </p:cNvPr>
          <p:cNvSpPr/>
          <p:nvPr/>
        </p:nvSpPr>
        <p:spPr>
          <a:xfrm>
            <a:off x="9458607" y="2805780"/>
            <a:ext cx="1951508" cy="19515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EC1087D-C57F-02B6-A647-A71EF232E8D0}"/>
              </a:ext>
            </a:extLst>
          </p:cNvPr>
          <p:cNvSpPr/>
          <p:nvPr/>
        </p:nvSpPr>
        <p:spPr>
          <a:xfrm>
            <a:off x="9680251" y="3027424"/>
            <a:ext cx="1508221" cy="15082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DB2D9E0-AC61-1F20-1838-43E98CE7819A}"/>
              </a:ext>
            </a:extLst>
          </p:cNvPr>
          <p:cNvSpPr/>
          <p:nvPr/>
        </p:nvSpPr>
        <p:spPr>
          <a:xfrm>
            <a:off x="9924010" y="3271183"/>
            <a:ext cx="1020703" cy="10207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67CBDDE3-241F-700A-A2DA-CF33E8F2279F}"/>
              </a:ext>
            </a:extLst>
          </p:cNvPr>
          <p:cNvSpPr txBox="1"/>
          <p:nvPr/>
        </p:nvSpPr>
        <p:spPr>
          <a:xfrm>
            <a:off x="10606159" y="3890346"/>
            <a:ext cx="338554" cy="461665"/>
          </a:xfrm>
          <a:prstGeom prst="rect">
            <a:avLst/>
          </a:prstGeom>
          <a:noFill/>
        </p:spPr>
        <p:txBody>
          <a:bodyPr wrap="none" rtlCol="0">
            <a:spAutoFit/>
          </a:bodyPr>
          <a:lstStyle/>
          <a:p>
            <a:r>
              <a:rPr lang="en-US" sz="2400" b="1" dirty="0">
                <a:effectLst>
                  <a:glow rad="228600">
                    <a:schemeClr val="accent1"/>
                  </a:glow>
                </a:effectLst>
              </a:rPr>
              <a:t>1</a:t>
            </a:r>
          </a:p>
        </p:txBody>
      </p:sp>
      <p:sp>
        <p:nvSpPr>
          <p:cNvPr id="17" name="TextBox 16">
            <a:extLst>
              <a:ext uri="{FF2B5EF4-FFF2-40B4-BE49-F238E27FC236}">
                <a16:creationId xmlns:a16="http://schemas.microsoft.com/office/drawing/2014/main" id="{3CAB458D-B3F0-B455-C709-5155B55C84F3}"/>
              </a:ext>
            </a:extLst>
          </p:cNvPr>
          <p:cNvSpPr txBox="1"/>
          <p:nvPr/>
        </p:nvSpPr>
        <p:spPr>
          <a:xfrm>
            <a:off x="10613638" y="4130004"/>
            <a:ext cx="574196" cy="461665"/>
          </a:xfrm>
          <a:prstGeom prst="rect">
            <a:avLst/>
          </a:prstGeom>
          <a:noFill/>
        </p:spPr>
        <p:txBody>
          <a:bodyPr wrap="none" rtlCol="0">
            <a:spAutoFit/>
          </a:bodyPr>
          <a:lstStyle/>
          <a:p>
            <a:r>
              <a:rPr lang="en-US" sz="2400" b="1" dirty="0">
                <a:effectLst>
                  <a:glow rad="228600">
                    <a:schemeClr val="accent1"/>
                  </a:glow>
                </a:effectLst>
              </a:rPr>
              <a:t>0.8</a:t>
            </a:r>
          </a:p>
        </p:txBody>
      </p:sp>
      <p:sp>
        <p:nvSpPr>
          <p:cNvPr id="19" name="TextBox 18">
            <a:extLst>
              <a:ext uri="{FF2B5EF4-FFF2-40B4-BE49-F238E27FC236}">
                <a16:creationId xmlns:a16="http://schemas.microsoft.com/office/drawing/2014/main" id="{3CADD89F-AD81-74F2-6705-59CA805A9FB3}"/>
              </a:ext>
            </a:extLst>
          </p:cNvPr>
          <p:cNvSpPr txBox="1"/>
          <p:nvPr/>
        </p:nvSpPr>
        <p:spPr>
          <a:xfrm>
            <a:off x="10657615" y="4396630"/>
            <a:ext cx="574196" cy="461665"/>
          </a:xfrm>
          <a:prstGeom prst="rect">
            <a:avLst/>
          </a:prstGeom>
          <a:noFill/>
        </p:spPr>
        <p:txBody>
          <a:bodyPr wrap="none" rtlCol="0">
            <a:spAutoFit/>
          </a:bodyPr>
          <a:lstStyle/>
          <a:p>
            <a:r>
              <a:rPr lang="en-US" sz="2400" b="1" dirty="0">
                <a:effectLst>
                  <a:glow rad="228600">
                    <a:schemeClr val="accent1"/>
                  </a:glow>
                </a:effectLst>
              </a:rPr>
              <a:t>0.3</a:t>
            </a:r>
          </a:p>
        </p:txBody>
      </p:sp>
      <p:sp>
        <p:nvSpPr>
          <p:cNvPr id="21" name="TextBox 20">
            <a:extLst>
              <a:ext uri="{FF2B5EF4-FFF2-40B4-BE49-F238E27FC236}">
                <a16:creationId xmlns:a16="http://schemas.microsoft.com/office/drawing/2014/main" id="{0693B140-6F1A-0624-8082-4DC197969EE1}"/>
              </a:ext>
            </a:extLst>
          </p:cNvPr>
          <p:cNvSpPr txBox="1"/>
          <p:nvPr/>
        </p:nvSpPr>
        <p:spPr>
          <a:xfrm>
            <a:off x="10982409" y="4775303"/>
            <a:ext cx="338554" cy="461665"/>
          </a:xfrm>
          <a:prstGeom prst="rect">
            <a:avLst/>
          </a:prstGeom>
          <a:noFill/>
        </p:spPr>
        <p:txBody>
          <a:bodyPr wrap="none" rtlCol="0">
            <a:spAutoFit/>
          </a:bodyPr>
          <a:lstStyle/>
          <a:p>
            <a:r>
              <a:rPr lang="en-US" sz="2400" b="1" dirty="0">
                <a:effectLst>
                  <a:glow rad="228600">
                    <a:schemeClr val="bg1"/>
                  </a:glow>
                </a:effectLst>
              </a:rPr>
              <a:t>0</a:t>
            </a:r>
          </a:p>
        </p:txBody>
      </p:sp>
    </p:spTree>
    <p:extLst>
      <p:ext uri="{BB962C8B-B14F-4D97-AF65-F5344CB8AC3E}">
        <p14:creationId xmlns:p14="http://schemas.microsoft.com/office/powerpoint/2010/main" val="560390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BB9335-9C60-3884-9853-5DEAD59E583B}"/>
              </a:ext>
            </a:extLst>
          </p:cNvPr>
          <p:cNvPicPr>
            <a:picLocks noChangeAspect="1"/>
          </p:cNvPicPr>
          <p:nvPr/>
        </p:nvPicPr>
        <p:blipFill>
          <a:blip r:embed="rId3">
            <a:alphaModFix amt="85000"/>
          </a:blip>
          <a:stretch>
            <a:fillRect/>
          </a:stretch>
        </p:blipFill>
        <p:spPr>
          <a:xfrm>
            <a:off x="0" y="5562"/>
            <a:ext cx="12192000" cy="6852438"/>
          </a:xfrm>
          <a:prstGeom prst="rect">
            <a:avLst/>
          </a:prstGeom>
        </p:spPr>
      </p:pic>
      <p:sp>
        <p:nvSpPr>
          <p:cNvPr id="2" name="Title 1">
            <a:extLst>
              <a:ext uri="{FF2B5EF4-FFF2-40B4-BE49-F238E27FC236}">
                <a16:creationId xmlns:a16="http://schemas.microsoft.com/office/drawing/2014/main" id="{95F7E47B-DCB4-9F90-DF0A-3AE3470AD779}"/>
              </a:ext>
            </a:extLst>
          </p:cNvPr>
          <p:cNvSpPr>
            <a:spLocks noGrp="1"/>
          </p:cNvSpPr>
          <p:nvPr>
            <p:ph type="title"/>
          </p:nvPr>
        </p:nvSpPr>
        <p:spPr/>
        <p:txBody>
          <a:bodyPr/>
          <a:lstStyle/>
          <a:p>
            <a:r>
              <a:rPr lang="en-US" dirty="0"/>
              <a:t>Compositing</a:t>
            </a:r>
          </a:p>
        </p:txBody>
      </p:sp>
      <p:sp>
        <p:nvSpPr>
          <p:cNvPr id="3" name="Content Placeholder 2">
            <a:extLst>
              <a:ext uri="{FF2B5EF4-FFF2-40B4-BE49-F238E27FC236}">
                <a16:creationId xmlns:a16="http://schemas.microsoft.com/office/drawing/2014/main" id="{07864CF3-E204-A548-E165-BD0B89CBBCCE}"/>
              </a:ext>
            </a:extLst>
          </p:cNvPr>
          <p:cNvSpPr>
            <a:spLocks noGrp="1"/>
          </p:cNvSpPr>
          <p:nvPr>
            <p:ph idx="1"/>
          </p:nvPr>
        </p:nvSpPr>
        <p:spPr>
          <a:xfrm>
            <a:off x="731520" y="3429000"/>
            <a:ext cx="10780776" cy="3557117"/>
          </a:xfrm>
        </p:spPr>
        <p:txBody>
          <a:bodyPr>
            <a:normAutofit lnSpcReduction="10000"/>
          </a:bodyPr>
          <a:lstStyle/>
          <a:p>
            <a:r>
              <a:rPr lang="en-US" dirty="0"/>
              <a:t>Transparency ramp</a:t>
            </a:r>
          </a:p>
          <a:p>
            <a:r>
              <a:rPr lang="en-US" dirty="0"/>
              <a:t>Uncertain existence hatched</a:t>
            </a:r>
          </a:p>
          <a:p>
            <a:r>
              <a:rPr lang="en-US" dirty="0"/>
              <a:t>Cities, non-state societies, trade routes</a:t>
            </a:r>
          </a:p>
          <a:p>
            <a:r>
              <a:rPr lang="en-US" dirty="0"/>
              <a:t>Static fine</a:t>
            </a:r>
          </a:p>
          <a:p>
            <a:r>
              <a:rPr lang="en-US" dirty="0"/>
              <a:t>Interactive?</a:t>
            </a:r>
          </a:p>
        </p:txBody>
      </p:sp>
    </p:spTree>
    <p:extLst>
      <p:ext uri="{BB962C8B-B14F-4D97-AF65-F5344CB8AC3E}">
        <p14:creationId xmlns:p14="http://schemas.microsoft.com/office/powerpoint/2010/main" val="3207122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418B8D-BF63-1AE4-FFE2-97D02F35C181}"/>
              </a:ext>
            </a:extLst>
          </p:cNvPr>
          <p:cNvPicPr>
            <a:picLocks noChangeAspect="1"/>
          </p:cNvPicPr>
          <p:nvPr/>
        </p:nvPicPr>
        <p:blipFill>
          <a:blip r:embed="rId3"/>
          <a:stretch>
            <a:fillRect/>
          </a:stretch>
        </p:blipFill>
        <p:spPr>
          <a:xfrm>
            <a:off x="0" y="993"/>
            <a:ext cx="12192000" cy="6856013"/>
          </a:xfrm>
          <a:prstGeom prst="rect">
            <a:avLst/>
          </a:prstGeom>
        </p:spPr>
      </p:pic>
      <p:sp>
        <p:nvSpPr>
          <p:cNvPr id="2" name="Title 1">
            <a:extLst>
              <a:ext uri="{FF2B5EF4-FFF2-40B4-BE49-F238E27FC236}">
                <a16:creationId xmlns:a16="http://schemas.microsoft.com/office/drawing/2014/main" id="{698FA58C-3383-0A4F-125A-D75E3B212E40}"/>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F0DB64BF-5300-194C-90F0-3A1DA815D04E}"/>
              </a:ext>
            </a:extLst>
          </p:cNvPr>
          <p:cNvSpPr>
            <a:spLocks noGrp="1"/>
          </p:cNvSpPr>
          <p:nvPr>
            <p:ph idx="1"/>
          </p:nvPr>
        </p:nvSpPr>
        <p:spPr/>
        <p:txBody>
          <a:bodyPr/>
          <a:lstStyle/>
          <a:p>
            <a:r>
              <a:rPr lang="en-US" dirty="0">
                <a:hlinkClick r:id="rId4"/>
              </a:rPr>
              <a:t>plewe@byu.edu</a:t>
            </a:r>
            <a:endParaRPr lang="en-US" dirty="0"/>
          </a:p>
          <a:p>
            <a:r>
              <a:rPr lang="en-US" dirty="0"/>
              <a:t>github.com/</a:t>
            </a:r>
            <a:r>
              <a:rPr lang="en-US" dirty="0" err="1"/>
              <a:t>bplewe</a:t>
            </a:r>
            <a:r>
              <a:rPr lang="en-US" dirty="0"/>
              <a:t>/1492</a:t>
            </a:r>
          </a:p>
        </p:txBody>
      </p:sp>
      <p:pic>
        <p:nvPicPr>
          <p:cNvPr id="5" name="Picture 4">
            <a:extLst>
              <a:ext uri="{FF2B5EF4-FFF2-40B4-BE49-F238E27FC236}">
                <a16:creationId xmlns:a16="http://schemas.microsoft.com/office/drawing/2014/main" id="{FE0CBEDE-459D-DEDA-067C-8926CD07A268}"/>
              </a:ext>
            </a:extLst>
          </p:cNvPr>
          <p:cNvPicPr>
            <a:picLocks noChangeAspect="1"/>
          </p:cNvPicPr>
          <p:nvPr/>
        </p:nvPicPr>
        <p:blipFill>
          <a:blip r:embed="rId5"/>
          <a:stretch>
            <a:fillRect/>
          </a:stretch>
        </p:blipFill>
        <p:spPr>
          <a:xfrm>
            <a:off x="8347895" y="3171702"/>
            <a:ext cx="3320538" cy="3320538"/>
          </a:xfrm>
          <a:prstGeom prst="rect">
            <a:avLst/>
          </a:prstGeom>
        </p:spPr>
      </p:pic>
    </p:spTree>
    <p:extLst>
      <p:ext uri="{BB962C8B-B14F-4D97-AF65-F5344CB8AC3E}">
        <p14:creationId xmlns:p14="http://schemas.microsoft.com/office/powerpoint/2010/main" val="2325812926"/>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Riblet">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7145" cap="flat" cmpd="sng" algn="ctr">
          <a:solidFill>
            <a:schemeClr val="phClr"/>
          </a:solidFill>
          <a:prstDash val="solid"/>
        </a:ln>
        <a:ln w="58420" cap="flat" cmpd="thickThin" algn="ctr">
          <a:solidFill>
            <a:schemeClr val="phClr">
              <a:shade val="95000"/>
              <a:alpha val="50000"/>
              <a:satMod val="150000"/>
            </a:schemeClr>
          </a:solidFill>
          <a:prstDash val="solid"/>
        </a:ln>
      </a:lnStyleLst>
      <a:effectStyleLst>
        <a:effectStyle>
          <a:effectLst/>
        </a:effectStyle>
        <a:effectStyle>
          <a:effectLst>
            <a:outerShdw blurRad="50800" dist="38100" dir="2700000" rotWithShape="0">
              <a:srgbClr val="000000">
                <a:alpha val="60000"/>
              </a:srgbClr>
            </a:outerShdw>
          </a:effectLst>
          <a:scene3d>
            <a:camera prst="orthographicFront">
              <a:rot lat="0" lon="0" rev="0"/>
            </a:camera>
            <a:lightRig rig="flat" dir="tl"/>
          </a:scene3d>
          <a:sp3d prstMaterial="flat">
            <a:bevelT w="31750" h="63500" prst="riblet"/>
          </a:sp3d>
        </a:effectStyle>
        <a:effectStyle>
          <a:effectLst>
            <a:outerShdw blurRad="50800" dist="38100" dir="2700000" algn="ctr" rotWithShape="0">
              <a:srgbClr val="000000">
                <a:alpha val="60000"/>
              </a:srgbClr>
            </a:outerShdw>
          </a:effectLst>
          <a:scene3d>
            <a:camera prst="orthographicFront">
              <a:rot lat="0" lon="0" rev="0"/>
            </a:camera>
            <a:lightRig rig="flat" dir="tl"/>
          </a:scene3d>
          <a:sp3d prstMaterial="flat">
            <a:bevelT w="57150" h="114300" prst="ribl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TotalTime>585</TotalTime>
  <Words>1284</Words>
  <Application>Microsoft Office PowerPoint</Application>
  <PresentationFormat>Widescreen</PresentationFormat>
  <Paragraphs>67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Felix Titling</vt:lpstr>
      <vt:lpstr>Goudy Old Style</vt:lpstr>
      <vt:lpstr>Archway</vt:lpstr>
      <vt:lpstr>Visualizing 1492</vt:lpstr>
      <vt:lpstr>Why 1492?</vt:lpstr>
      <vt:lpstr>The state in 1492</vt:lpstr>
      <vt:lpstr>But do we care?</vt:lpstr>
      <vt:lpstr>The Data</vt:lpstr>
      <vt:lpstr>Processing . . .</vt:lpstr>
      <vt:lpstr>Compositing</vt:lpstr>
      <vt:lpstr>Thank you!</vt:lpstr>
    </vt:vector>
  </TitlesOfParts>
  <Company>Brigham Young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Brandon Plewe</dc:creator>
  <cp:lastModifiedBy>Brandon Plewe</cp:lastModifiedBy>
  <cp:revision>11</cp:revision>
  <dcterms:created xsi:type="dcterms:W3CDTF">2026-10-21T19:31:17Z</dcterms:created>
  <dcterms:modified xsi:type="dcterms:W3CDTF">2026-10-22T05:17:13Z</dcterms:modified>
</cp:coreProperties>
</file>